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1C2C4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2C4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95211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Predictor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AI-driven, sentiment-weighted real estate price estimation platform for the Indian housing market.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5760720" cy="594360"/>
          </a:xfrm>
          <a:prstGeom prst="roundRect">
            <a:avLst>
              <a:gd name="adj" fmla="val 15385"/>
            </a:avLst>
          </a:prstGeom>
          <a:solidFill>
            <a:srgbClr val="1C2C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celebrated-pastelito-238b4d.netlify.app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part of academic coursework in Data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house price prediction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pricing in India is fragmented and opaque. Buyers, sellers, and renters rarely have access to a transparent, factor-based way to estimate a property's fair value — leading to mispricing, guesswork, and reliance on broker opinions.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108960"/>
            <a:ext cx="685800" cy="68580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328041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77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Standard Benchmark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6012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vary wildly across listings for similar properties with no consistent valuation logic.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74320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108960"/>
            <a:ext cx="685800" cy="68580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328041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977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Is Ignored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0916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mood and buyer sentiment shift prices in the real world, but are rarely factored into estimates.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74320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3108960"/>
            <a:ext cx="685800" cy="68580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328041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977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Guesswork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5820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tools rely on flat per-sqft rates, ignoring BHK, bathrooms, type, age, and floor level.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multi-factor, sentiment-aware pricing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an interactive web-based pricing engine that blends structured property data with simulated market sentiment to generate a transparent, real-time INR price estimate — visualized through a live analytics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C2C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  =  </a:t>
            </a:r>
            <a:pPr indent="0" marL="0">
              <a:buNone/>
            </a:pP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 ×  ₹/sqft  ×  BHK Factor  ×  Bathroom Factor  ×  Type Multiplier  ×  Locality Tier  ×  Age Factor  ×  Floor Factor  ×  </a:t>
            </a:r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Multiplier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43" y="4660011"/>
            <a:ext cx="326898" cy="3268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Feature Input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96112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BHK, bathrooms, type, locality, age &amp; floor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56432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13" name="Shape 10"/>
          <p:cNvSpPr/>
          <p:nvPr/>
        </p:nvSpPr>
        <p:spPr>
          <a:xfrm>
            <a:off x="3712464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195" y="4660011"/>
            <a:ext cx="326898" cy="3268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2464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Sentiment Scoring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712464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NLP-driven market mood index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72784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18" name="Shape 14"/>
          <p:cNvSpPr/>
          <p:nvPr/>
        </p:nvSpPr>
        <p:spPr>
          <a:xfrm>
            <a:off x="6528816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547" y="4660011"/>
            <a:ext cx="326898" cy="3268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28816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Weighted Model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28816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regression-style calculation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89136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23" name="Shape 18"/>
          <p:cNvSpPr/>
          <p:nvPr/>
        </p:nvSpPr>
        <p:spPr>
          <a:xfrm>
            <a:off x="9345168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899" y="4660011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45168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Live Output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345168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INR estimate + confidence score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interactive web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web app where users configure a property's specifications and instantly see an AI-estimated price in INR, backed by a full data-visualization dashboard — no backend, no installation, fully deployed and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30536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8529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Input Form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31729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type, BHK (1–10, incl. .5), bathrooms (1–6), age, floor &amp; ₹/sqft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75818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Price Dashboard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17320" y="40782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INR price, ₹/sqft, confidence score &amp; estimated EMI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736592"/>
            <a:ext cx="566928" cy="566928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4864151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663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Interactive Charts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17320" y="4983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Breakdown, comparison, trend, feature importance &amp; distribution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641848"/>
            <a:ext cx="566928" cy="566928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5769407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5686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Responsive UI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417320" y="58887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dark-themed design that works on any device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589520" y="1600200"/>
            <a:ext cx="3931920" cy="4526280"/>
          </a:xfrm>
          <a:prstGeom prst="roundRect">
            <a:avLst>
              <a:gd name="adj" fmla="val 3256"/>
            </a:avLst>
          </a:prstGeom>
          <a:solidFill>
            <a:srgbClr val="13203B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9095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VALUE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90956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84.6 L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790956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₹7,050 / sqft  ·  93% confidence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909560" y="352044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26" name="Text 20"/>
          <p:cNvSpPr/>
          <p:nvPr/>
        </p:nvSpPr>
        <p:spPr>
          <a:xfrm>
            <a:off x="8074152" y="363016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sqft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074152" y="390448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₹7,050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669780" y="352044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29" name="Text 23"/>
          <p:cNvSpPr/>
          <p:nvPr/>
        </p:nvSpPr>
        <p:spPr>
          <a:xfrm>
            <a:off x="9834372" y="363016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Avg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9834372" y="390448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₹6,420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7909560" y="457200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32" name="Text 26"/>
          <p:cNvSpPr/>
          <p:nvPr/>
        </p:nvSpPr>
        <p:spPr>
          <a:xfrm>
            <a:off x="8074152" y="468172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Market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8074152" y="495604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+9.8%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669780" y="457200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35" name="Text 29"/>
          <p:cNvSpPr/>
          <p:nvPr/>
        </p:nvSpPr>
        <p:spPr>
          <a:xfrm>
            <a:off x="9834372" y="468172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(20yr)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9834372" y="495604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₹68.2K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7909560" y="5623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Positive  ·  Flat  ·  Tier 1 Suburban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as a single self-contained index.html file — no backend server or database — making it instantly deployable as a static site.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97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959" y="282503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700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form, dashboard &amp; analytics sections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4231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97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279" y="282503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6700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338328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system — gradients, cards, responsive grid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24231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697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99" y="2825039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6700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338328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 logic &amp; real-time DOM/chart updates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407408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6817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959" y="4809287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654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4400" y="5367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live, auto-updating data visualizations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4407408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6817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279" y="4809287"/>
            <a:ext cx="311810" cy="3118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4654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17720" y="5367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&amp; Inter for a clean modern typography system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4407408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31" name="Shape 24"/>
          <p:cNvSpPr/>
          <p:nvPr/>
        </p:nvSpPr>
        <p:spPr>
          <a:xfrm>
            <a:off x="8321040" y="46817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599" y="4809287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2560" y="4654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Netlify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21040" y="5367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for instant public deployment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can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1625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974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Property Types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6112" y="31546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Villa, Studio, Penthouse, Duplex, Farmhouse, Row House &amp; Independent House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039112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21625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6974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BHK Range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85032" y="31546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10 bedrooms, including half-values like 2.5, 3.5 and 4.5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2039112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1625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6974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Bathroom Count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31546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from 1 to 6 bathrooms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0684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62872" y="2039112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16" y="216255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26974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₹/Sqft Input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62872" y="31546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locality preset or enter a fully custom base rate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251960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437540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" y="49103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Slider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96112" y="536752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NLP market mood — bearish to bullish — shifts the price live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2900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85032" y="4251960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437540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85032" y="49103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Live Charts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685032" y="536752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Breakdown, comparison, sentiment trend, feature importance &amp; BHK distribution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1792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73952" y="4251960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4375404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73952" y="49103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 Estimator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473952" y="536752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20-year EMI projection based on predicted value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0684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A102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62872" y="4251960"/>
            <a:ext cx="548640" cy="548640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4375404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62872" y="49103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262872" y="536752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indicator based on how typical the inputs are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1C2C4F"/>
          </a:solidFill>
          <a:ln w="12700">
            <a:solidFill>
              <a:srgbClr val="30406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994660" y="3406140"/>
            <a:ext cx="640080" cy="640080"/>
          </a:xfrm>
          <a:prstGeom prst="ellipse">
            <a:avLst/>
          </a:prstGeom>
          <a:solidFill>
            <a:srgbClr val="3040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3566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462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+ Dashboard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C2C4F"/>
          </a:solidFill>
          <a:ln w="12700">
            <a:solidFill>
              <a:srgbClr val="30406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526780" y="2240280"/>
            <a:ext cx="640080" cy="640080"/>
          </a:xfrm>
          <a:prstGeom prst="ellipse">
            <a:avLst/>
          </a:prstGeom>
          <a:solidFill>
            <a:srgbClr val="3040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4003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28803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72200" y="3429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4023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C2C4F"/>
          </a:solidFill>
          <a:ln w="12700">
            <a:solidFill>
              <a:srgbClr val="30406B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8526780" y="4572000"/>
            <a:ext cx="640080" cy="640080"/>
          </a:xfrm>
          <a:prstGeom prst="ellipse">
            <a:avLst/>
          </a:prstGeom>
          <a:solidFill>
            <a:srgbClr val="3040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7320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52120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72200" y="57607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Section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C2C4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89611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data science to real estate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end-to-end data science thinking — feature engineering, sentiment analysis, weighted modeling and visual analytics — packaged into a live, usable product rather than a static notebook.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320040" cy="320040"/>
          </a:xfrm>
          <a:prstGeom prst="ellipse">
            <a:avLst/>
          </a:prstGeom>
          <a:solidFill>
            <a:srgbClr val="1C2C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041648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9593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model trained on live listing data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4480560"/>
            <a:ext cx="320040" cy="320040"/>
          </a:xfrm>
          <a:prstGeom prst="ellipse">
            <a:avLst/>
          </a:prstGeom>
          <a:solidFill>
            <a:srgbClr val="1C2C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544568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4622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localized datasets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2960" y="4983480"/>
            <a:ext cx="320040" cy="320040"/>
          </a:xfrm>
          <a:prstGeom prst="ellipse">
            <a:avLst/>
          </a:prstGeom>
          <a:solidFill>
            <a:srgbClr val="1C2C4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04748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965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to save predictions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22960" y="5715000"/>
            <a:ext cx="5943600" cy="594360"/>
          </a:xfrm>
          <a:prstGeom prst="roundRect">
            <a:avLst>
              <a:gd name="adj" fmla="val 15385"/>
            </a:avLst>
          </a:prstGeom>
          <a:solidFill>
            <a:srgbClr val="1C2C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005840" y="57150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celebrated-pastelito-238b4d.netlify.app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Predictor</dc:title>
  <dc:subject>PptxGenJS Presentation</dc:subject>
  <dc:creator>Data Science Project</dc:creator>
  <cp:lastModifiedBy>Data Science Project</cp:lastModifiedBy>
  <cp:revision>1</cp:revision>
  <dcterms:created xsi:type="dcterms:W3CDTF">2026-06-30T05:58:16Z</dcterms:created>
  <dcterms:modified xsi:type="dcterms:W3CDTF">2026-06-30T05:58:16Z</dcterms:modified>
</cp:coreProperties>
</file>